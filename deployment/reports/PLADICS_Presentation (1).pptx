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10" name="Text 8"/>
          <p:cNvSpPr/>
          <p:nvPr/>
        </p:nvSpPr>
        <p:spPr>
          <a:xfrm>
            <a:off x="822960" y="566928"/>
            <a:ext cx="10515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9FEF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INTERNET OF THINGS AND ROBOTICS ENGINEERING (IRE)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8686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E8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 OF FRONTIER TECHNOLOGY, BANGLADESH (UFTB)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64785" y="1417320"/>
            <a:ext cx="1463040" cy="0"/>
          </a:xfrm>
          <a:prstGeom prst="line">
            <a:avLst/>
          </a:prstGeom>
          <a:noFill/>
          <a:ln w="19050">
            <a:solidFill>
              <a:srgbClr val="3B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148840"/>
            <a:ext cx="10515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2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PLADICS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1280160" y="3127248"/>
            <a:ext cx="9601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9FEF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Lightweight YOLO26n-Based Framework for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9FEF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River-Surface Plastic Waste Detection and Collection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913632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8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 : IRE 300 -Capstone Project 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6628" y="48006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1220" y="4928616"/>
            <a:ext cx="291693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B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1220" y="5221224"/>
            <a:ext cx="29169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Mst. Esat Jahan Akhi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1220" y="5733288"/>
            <a:ext cx="291693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B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ID: 2201022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72788" y="48006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7380" y="4928616"/>
            <a:ext cx="291693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B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37380" y="5221224"/>
            <a:ext cx="29169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Jannatul Ferdushi Ayesha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37380" y="5733288"/>
            <a:ext cx="291693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B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ID: 2201002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38948" y="48006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03540" y="4928616"/>
            <a:ext cx="291693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B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SUPERVISED BY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03540" y="5221224"/>
            <a:ext cx="29169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Suman Saha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203540" y="5733288"/>
            <a:ext cx="291693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B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Assistant Professor, Dept. of IRE, UFTB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82600" y="14173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3768" y="1636776"/>
            <a:ext cx="566928" cy="457200"/>
          </a:xfrm>
          <a:prstGeom prst="roundRect">
            <a:avLst>
              <a:gd name="adj" fmla="val 14000"/>
            </a:avLst>
          </a:prstGeom>
          <a:solidFill>
            <a:srgbClr val="0B1F3A"/>
          </a:solidFill>
        </p:spPr>
      </p:sp>
      <p:sp>
        <p:nvSpPr>
          <p:cNvPr id="14" name="Text 12"/>
          <p:cNvSpPr/>
          <p:nvPr/>
        </p:nvSpPr>
        <p:spPr>
          <a:xfrm>
            <a:off x="883768" y="1636776"/>
            <a:ext cx="566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EFF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3768" y="2258568"/>
            <a:ext cx="213969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44088" y="14173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45256" y="1636776"/>
            <a:ext cx="566928" cy="457200"/>
          </a:xfrm>
          <a:prstGeom prst="roundRect">
            <a:avLst>
              <a:gd name="adj" fmla="val 14000"/>
            </a:avLst>
          </a:prstGeom>
          <a:solidFill>
            <a:srgbClr val="0B1F3A"/>
          </a:solidFill>
        </p:spPr>
      </p:sp>
      <p:sp>
        <p:nvSpPr>
          <p:cNvPr id="18" name="Text 16"/>
          <p:cNvSpPr/>
          <p:nvPr/>
        </p:nvSpPr>
        <p:spPr>
          <a:xfrm>
            <a:off x="3645256" y="1636776"/>
            <a:ext cx="566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EFF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45256" y="2258568"/>
            <a:ext cx="213969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&amp; Motivation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05576" y="14173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6744" y="1636776"/>
            <a:ext cx="566928" cy="457200"/>
          </a:xfrm>
          <a:prstGeom prst="roundRect">
            <a:avLst>
              <a:gd name="adj" fmla="val 14000"/>
            </a:avLst>
          </a:prstGeom>
          <a:solidFill>
            <a:srgbClr val="0B1F3A"/>
          </a:solidFill>
        </p:spPr>
      </p:sp>
      <p:sp>
        <p:nvSpPr>
          <p:cNvPr id="22" name="Text 20"/>
          <p:cNvSpPr/>
          <p:nvPr/>
        </p:nvSpPr>
        <p:spPr>
          <a:xfrm>
            <a:off x="6406744" y="1636776"/>
            <a:ext cx="566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EFF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6744" y="2258568"/>
            <a:ext cx="213969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67064" y="14173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68232" y="1636776"/>
            <a:ext cx="566928" cy="457200"/>
          </a:xfrm>
          <a:prstGeom prst="roundRect">
            <a:avLst>
              <a:gd name="adj" fmla="val 14000"/>
            </a:avLst>
          </a:prstGeom>
          <a:solidFill>
            <a:srgbClr val="0B1F3A"/>
          </a:solidFill>
        </p:spPr>
      </p:sp>
      <p:sp>
        <p:nvSpPr>
          <p:cNvPr id="26" name="Text 24"/>
          <p:cNvSpPr/>
          <p:nvPr/>
        </p:nvSpPr>
        <p:spPr>
          <a:xfrm>
            <a:off x="9168232" y="1636776"/>
            <a:ext cx="566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EFF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8232" y="2258568"/>
            <a:ext cx="213969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2600" y="37033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3768" y="3922776"/>
            <a:ext cx="566928" cy="457200"/>
          </a:xfrm>
          <a:prstGeom prst="roundRect">
            <a:avLst>
              <a:gd name="adj" fmla="val 14000"/>
            </a:avLst>
          </a:prstGeom>
          <a:solidFill>
            <a:srgbClr val="0B1F3A"/>
          </a:solidFill>
        </p:spPr>
      </p:sp>
      <p:sp>
        <p:nvSpPr>
          <p:cNvPr id="30" name="Text 28"/>
          <p:cNvSpPr/>
          <p:nvPr/>
        </p:nvSpPr>
        <p:spPr>
          <a:xfrm>
            <a:off x="883768" y="3922776"/>
            <a:ext cx="566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EFF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83768" y="4544568"/>
            <a:ext cx="213969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44088" y="37033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45256" y="3922776"/>
            <a:ext cx="566928" cy="457200"/>
          </a:xfrm>
          <a:prstGeom prst="roundRect">
            <a:avLst>
              <a:gd name="adj" fmla="val 14000"/>
            </a:avLst>
          </a:prstGeom>
          <a:solidFill>
            <a:srgbClr val="0B1F3A"/>
          </a:solidFill>
        </p:spPr>
      </p:sp>
      <p:sp>
        <p:nvSpPr>
          <p:cNvPr id="34" name="Text 32"/>
          <p:cNvSpPr/>
          <p:nvPr/>
        </p:nvSpPr>
        <p:spPr>
          <a:xfrm>
            <a:off x="3645256" y="3922776"/>
            <a:ext cx="566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EFF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645256" y="4544568"/>
            <a:ext cx="213969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Model &amp; Results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05576" y="37033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6744" y="3922776"/>
            <a:ext cx="566928" cy="457200"/>
          </a:xfrm>
          <a:prstGeom prst="roundRect">
            <a:avLst>
              <a:gd name="adj" fmla="val 14000"/>
            </a:avLst>
          </a:prstGeom>
          <a:solidFill>
            <a:srgbClr val="0B1F3A"/>
          </a:solidFill>
        </p:spPr>
      </p:sp>
      <p:sp>
        <p:nvSpPr>
          <p:cNvPr id="38" name="Text 36"/>
          <p:cNvSpPr/>
          <p:nvPr/>
        </p:nvSpPr>
        <p:spPr>
          <a:xfrm>
            <a:off x="6406744" y="3922776"/>
            <a:ext cx="566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EFF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406744" y="4544568"/>
            <a:ext cx="213969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Navigation, Collection &amp; IoT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967064" y="37033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68232" y="3922776"/>
            <a:ext cx="566928" cy="457200"/>
          </a:xfrm>
          <a:prstGeom prst="roundRect">
            <a:avLst>
              <a:gd name="adj" fmla="val 14000"/>
            </a:avLst>
          </a:prstGeom>
          <a:solidFill>
            <a:srgbClr val="0B1F3A"/>
          </a:solidFill>
        </p:spPr>
      </p:sp>
      <p:sp>
        <p:nvSpPr>
          <p:cNvPr id="42" name="Text 40"/>
          <p:cNvSpPr/>
          <p:nvPr/>
        </p:nvSpPr>
        <p:spPr>
          <a:xfrm>
            <a:off x="9168232" y="3922776"/>
            <a:ext cx="566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EFF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168232" y="4544568"/>
            <a:ext cx="213969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Demonstration &amp; Conclusion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55168" y="141732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168" y="1417320"/>
            <a:ext cx="3456432" cy="822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4" name="Text 12"/>
          <p:cNvSpPr/>
          <p:nvPr/>
        </p:nvSpPr>
        <p:spPr>
          <a:xfrm>
            <a:off x="874624" y="1673352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RIVER PLASTIC POLLUTION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4624" y="2203704"/>
            <a:ext cx="3017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Plastic debris entering rivers obstructs waterways, harms aquatic life, and fragments into persistent microplastics.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67632" y="141732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7632" y="1417320"/>
            <a:ext cx="3456432" cy="82296"/>
          </a:xfrm>
          <a:prstGeom prst="rect">
            <a:avLst/>
          </a:prstGeom>
          <a:solidFill>
            <a:srgbClr val="27C281"/>
          </a:solidFill>
        </p:spPr>
      </p:sp>
      <p:sp>
        <p:nvSpPr>
          <p:cNvPr id="18" name="Text 16"/>
          <p:cNvSpPr/>
          <p:nvPr/>
        </p:nvSpPr>
        <p:spPr>
          <a:xfrm>
            <a:off x="4587088" y="1673352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COLLECTION IS COSTLY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87088" y="2203704"/>
            <a:ext cx="3017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inspection and cleanup of river surfaces require significant labor, time, and continuous operational effort.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80096" y="141732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80096" y="1417320"/>
            <a:ext cx="3456432" cy="82296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22" name="Text 20"/>
          <p:cNvSpPr/>
          <p:nvPr/>
        </p:nvSpPr>
        <p:spPr>
          <a:xfrm>
            <a:off x="8299552" y="1673352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FOR AUTOMATION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99552" y="2203704"/>
            <a:ext cx="3017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Reflections, glare, vegetation, and water motion make automated river-surface plastic detection genuinely difficult.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520440"/>
            <a:ext cx="10911535" cy="2606040"/>
          </a:xfrm>
          <a:prstGeom prst="roundRect">
            <a:avLst>
              <a:gd name="adj" fmla="val 2807"/>
            </a:avLst>
          </a:prstGeom>
          <a:solidFill>
            <a:srgbClr val="0B1F3A"/>
          </a:solidFill>
        </p:spPr>
      </p:sp>
      <p:sp>
        <p:nvSpPr>
          <p:cNvPr id="25" name="Text 23"/>
          <p:cNvSpPr/>
          <p:nvPr/>
        </p:nvSpPr>
        <p:spPr>
          <a:xfrm>
            <a:off x="960120" y="3776472"/>
            <a:ext cx="102714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B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 — PLADICS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4178808"/>
            <a:ext cx="10271455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(Plastic Detection and Intelligent Collection System) is a Raspberry-Pi-based rover that detects floating plastic with a lightweight YOLO26n model, tracks it with ByteTrack, and autonomously navigates to collect it using a conveyor-belt mechanism — with live IoT monitoring throughout.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0120" y="5212080"/>
            <a:ext cx="1917131" cy="621792"/>
          </a:xfrm>
          <a:prstGeom prst="roundRect">
            <a:avLst>
              <a:gd name="adj" fmla="val 8824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5212080"/>
            <a:ext cx="1770827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Plastic Detection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14411" y="5212080"/>
            <a:ext cx="1917131" cy="621792"/>
          </a:xfrm>
          <a:prstGeom prst="roundRect">
            <a:avLst>
              <a:gd name="adj" fmla="val 8824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87563" y="5212080"/>
            <a:ext cx="1770827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Tracking (ByteTrack)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68702" y="5212080"/>
            <a:ext cx="1917131" cy="621792"/>
          </a:xfrm>
          <a:prstGeom prst="roundRect">
            <a:avLst>
              <a:gd name="adj" fmla="val 8824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1854" y="5212080"/>
            <a:ext cx="1770827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Navigation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22993" y="5212080"/>
            <a:ext cx="1917131" cy="621792"/>
          </a:xfrm>
          <a:prstGeom prst="roundRect">
            <a:avLst>
              <a:gd name="adj" fmla="val 8824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145" y="5212080"/>
            <a:ext cx="1770827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Conveyor-Belt Collection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77284" y="5212080"/>
            <a:ext cx="1917131" cy="621792"/>
          </a:xfrm>
          <a:prstGeom prst="roundRect">
            <a:avLst>
              <a:gd name="adj" fmla="val 8824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50436" y="5212080"/>
            <a:ext cx="1770827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Telemetry Dashboard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· PROBLEM &amp; MOTIVATION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63728" y="1463040"/>
            <a:ext cx="261518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4896" y="1682496"/>
            <a:ext cx="457200" cy="457200"/>
          </a:xfrm>
          <a:prstGeom prst="rect">
            <a:avLst/>
          </a:prstGeom>
          <a:solidFill>
            <a:srgbClr val="F3F7FA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896" y="168249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728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4896" y="2267712"/>
            <a:ext cx="221284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4896" y="2578608"/>
            <a:ext cx="2212848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1,000+ rivers carry nearly 80% of ocean-bound plastic, making upstream interception highly valuable.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0080" y="1463040"/>
            <a:ext cx="261518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81248" y="1682496"/>
            <a:ext cx="457200" cy="457200"/>
          </a:xfrm>
          <a:prstGeom prst="rect">
            <a:avLst/>
          </a:prstGeom>
          <a:solidFill>
            <a:srgbClr val="F3F7FA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81248" y="168249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728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81248" y="2267712"/>
            <a:ext cx="221284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81248" y="2578608"/>
            <a:ext cx="2212848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manual monitoring and removal of river debris is slow, expensive, and hard to scale.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6432" y="1463040"/>
            <a:ext cx="261518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7600" y="1682496"/>
            <a:ext cx="457200" cy="457200"/>
          </a:xfrm>
          <a:prstGeom prst="rect">
            <a:avLst/>
          </a:prstGeom>
          <a:solidFill>
            <a:srgbClr val="F3F7FA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7600" y="168249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728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97600" y="2267712"/>
            <a:ext cx="221284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97600" y="2578608"/>
            <a:ext cx="2212848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Reflections, glare, vegetation, and water texture make plastic detection unreliable with simple vision methods.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12784" y="1463040"/>
            <a:ext cx="261518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13952" y="1682496"/>
            <a:ext cx="457200" cy="457200"/>
          </a:xfrm>
          <a:prstGeom prst="rect">
            <a:avLst/>
          </a:prstGeom>
          <a:solidFill>
            <a:srgbClr val="F3F7FA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13952" y="168249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728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13952" y="2267712"/>
            <a:ext cx="221284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13952" y="2578608"/>
            <a:ext cx="2212848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 systems connect detection with tracking, navigation, physical collection, and monitoring in one workflow.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11480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</p:spPr>
      </p:sp>
      <p:sp>
        <p:nvSpPr>
          <p:cNvPr id="33" name="Text 31"/>
          <p:cNvSpPr/>
          <p:nvPr/>
        </p:nvSpPr>
        <p:spPr>
          <a:xfrm>
            <a:off x="960120" y="4315968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B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60120" y="4663440"/>
            <a:ext cx="1027145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lightweight, reproducible detection-to-collection framework that reliably finds river-surface plastic and physically removes it using a low-cost autonomous rover.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· OBJECTIVES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86588" y="146304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332" y="171907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B7285"/>
          </a:solidFill>
        </p:spPr>
      </p:sp>
      <p:sp>
        <p:nvSpPr>
          <p:cNvPr id="14" name="Text 12"/>
          <p:cNvSpPr/>
          <p:nvPr/>
        </p:nvSpPr>
        <p:spPr>
          <a:xfrm>
            <a:off x="824332" y="1719072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74140" y="171907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DETECTION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574140" y="2121408"/>
            <a:ext cx="4114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Refine and merge public river-plastic datasets, then train a lightweight YOLO26n detector for real-time single-class plastic detection.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55868" y="146304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3612" y="171907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7C281"/>
          </a:solidFill>
        </p:spPr>
      </p:sp>
      <p:sp>
        <p:nvSpPr>
          <p:cNvPr id="19" name="Text 17"/>
          <p:cNvSpPr/>
          <p:nvPr/>
        </p:nvSpPr>
        <p:spPr>
          <a:xfrm>
            <a:off x="6493612" y="1719072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43420" y="171907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SELECTION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243420" y="2121408"/>
            <a:ext cx="4114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YOLO, compact-CNN, and transformer detectors on accuracy, size, and CPU latency to choose a deployment-ready model.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6588" y="3721608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332" y="397764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B1F3A"/>
          </a:solidFill>
        </p:spPr>
      </p:sp>
      <p:sp>
        <p:nvSpPr>
          <p:cNvPr id="24" name="Text 22"/>
          <p:cNvSpPr/>
          <p:nvPr/>
        </p:nvSpPr>
        <p:spPr>
          <a:xfrm>
            <a:off x="824332" y="397764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74140" y="397764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NAVIGATION &amp; COLLECTION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574140" y="4379976"/>
            <a:ext cx="4114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ByteTrack-based target continuity with rule-based rover navigation and a conveyor-belt collection mechanism.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55868" y="3721608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3612" y="397764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A4FB3"/>
          </a:solidFill>
        </p:spPr>
      </p:sp>
      <p:sp>
        <p:nvSpPr>
          <p:cNvPr id="29" name="Text 27"/>
          <p:cNvSpPr/>
          <p:nvPr/>
        </p:nvSpPr>
        <p:spPr>
          <a:xfrm>
            <a:off x="6493612" y="397764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243420" y="397764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MONITORING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243420" y="4379976"/>
            <a:ext cx="4114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 live telemetry — detections, actions, and system health — to an MQTT / Node-RED dashboard for mission logging.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· RELATED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" y="1417320"/>
            <a:ext cx="10911535" cy="512064"/>
          </a:xfrm>
          <a:prstGeom prst="rect">
            <a:avLst/>
          </a:prstGeom>
          <a:solidFill>
            <a:srgbClr val="0B1F3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417320"/>
            <a:ext cx="4308525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Area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60085" y="1417320"/>
            <a:ext cx="600865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Contribution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1929384"/>
            <a:ext cx="10911535" cy="512064"/>
          </a:xfrm>
          <a:prstGeom prst="rect">
            <a:avLst/>
          </a:prstGeom>
          <a:solidFill>
            <a:srgbClr val="EAF1F7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929384"/>
            <a:ext cx="4308525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YOLO for Water Surfaces [1]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60085" y="1929384"/>
            <a:ext cx="600865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Compact YOLOv5-based detector reduces computation for water-surface garbage detection.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441448"/>
            <a:ext cx="1091153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441448"/>
            <a:ext cx="4308525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Multiclass Surface Litter Detection [2]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60085" y="2441448"/>
            <a:ext cx="600865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SS-YOLOv8n targets multiclass floating litter with a lightweight backbone.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953512"/>
            <a:ext cx="10911535" cy="512064"/>
          </a:xfrm>
          <a:prstGeom prst="rect">
            <a:avLst/>
          </a:prstGeom>
          <a:solidFill>
            <a:srgbClr val="EAF1F7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953512"/>
            <a:ext cx="4308525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Multi-Scale Feature Fusion [3]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60085" y="2953512"/>
            <a:ext cx="600865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YOLOv8-MSS strengthens multi-scale representation for floating-waste detection.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465576"/>
            <a:ext cx="1091153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465576"/>
            <a:ext cx="4308525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Attention-Enhanced Detection [4]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60085" y="3465576"/>
            <a:ext cx="600865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YOLOv7 adds fusion and attention modules for floating-debris localization.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10911535" cy="512064"/>
          </a:xfrm>
          <a:prstGeom prst="rect">
            <a:avLst/>
          </a:prstGeom>
          <a:solidFill>
            <a:srgbClr val="EAF1F7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977640"/>
            <a:ext cx="4308525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Tracking-Assisted Detection [5]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60085" y="3977640"/>
            <a:ext cx="600865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YOLOv5 combined with DeepSORT maintains object identity across video frames.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489704"/>
            <a:ext cx="1091153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489704"/>
            <a:ext cx="4308525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Transformer-Based Detection [6]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60085" y="4489704"/>
            <a:ext cx="600865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RT-DETR-based models use global context for multi-scale floating-waste detection.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5001768"/>
            <a:ext cx="10911535" cy="512064"/>
          </a:xfrm>
          <a:prstGeom prst="rect">
            <a:avLst/>
          </a:prstGeom>
          <a:solidFill>
            <a:srgbClr val="EAF1F7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001768"/>
            <a:ext cx="4308525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Complex-Scene Robustness [7]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60085" y="5001768"/>
            <a:ext cx="600865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Attention-enhanced YOLO variants improve detection under occlusion and clutter.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· SYSTEM 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 — END-TO-END WORKFLOW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1965960"/>
            <a:ext cx="175564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965960"/>
            <a:ext cx="1755648" cy="384048"/>
          </a:xfrm>
          <a:prstGeom prst="roundRect">
            <a:avLst>
              <a:gd name="adj" fmla="val 16667"/>
            </a:avLst>
          </a:prstGeom>
          <a:solidFill>
            <a:srgbClr val="0B7285"/>
          </a:solidFill>
        </p:spPr>
      </p:sp>
      <p:sp>
        <p:nvSpPr>
          <p:cNvPr id="14" name="Text 12"/>
          <p:cNvSpPr/>
          <p:nvPr/>
        </p:nvSpPr>
        <p:spPr>
          <a:xfrm>
            <a:off x="731520" y="1965960"/>
            <a:ext cx="365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2423160"/>
            <a:ext cx="1609344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Input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2807208"/>
            <a:ext cx="160934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 Camera V2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 live river-surface frames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95728" y="2592324"/>
            <a:ext cx="75529" cy="164592"/>
          </a:xfrm>
          <a:prstGeom prst="rightArrow">
            <a:avLst/>
          </a:prstGeom>
          <a:solidFill>
            <a:srgbClr val="7C8AA0"/>
          </a:solidFill>
        </p:spPr>
      </p:sp>
      <p:sp>
        <p:nvSpPr>
          <p:cNvPr id="18" name="Shape 16"/>
          <p:cNvSpPr/>
          <p:nvPr/>
        </p:nvSpPr>
        <p:spPr>
          <a:xfrm>
            <a:off x="2471257" y="1965960"/>
            <a:ext cx="175564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71257" y="1965960"/>
            <a:ext cx="1755648" cy="384048"/>
          </a:xfrm>
          <a:prstGeom prst="roundRect">
            <a:avLst>
              <a:gd name="adj" fmla="val 16667"/>
            </a:avLst>
          </a:prstGeom>
          <a:solidFill>
            <a:srgbClr val="0B7285"/>
          </a:solidFill>
        </p:spPr>
      </p:sp>
      <p:sp>
        <p:nvSpPr>
          <p:cNvPr id="20" name="Text 18"/>
          <p:cNvSpPr/>
          <p:nvPr/>
        </p:nvSpPr>
        <p:spPr>
          <a:xfrm>
            <a:off x="2562697" y="1965960"/>
            <a:ext cx="365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44409" y="2423160"/>
            <a:ext cx="1609344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YOLO26n 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44409" y="2807208"/>
            <a:ext cx="160934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 NCNN inference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plastic candidates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26905" y="2592324"/>
            <a:ext cx="75529" cy="164592"/>
          </a:xfrm>
          <a:prstGeom prst="rightArrow">
            <a:avLst/>
          </a:prstGeom>
          <a:solidFill>
            <a:srgbClr val="7C8AA0"/>
          </a:solidFill>
        </p:spPr>
      </p:sp>
      <p:sp>
        <p:nvSpPr>
          <p:cNvPr id="24" name="Shape 22"/>
          <p:cNvSpPr/>
          <p:nvPr/>
        </p:nvSpPr>
        <p:spPr>
          <a:xfrm>
            <a:off x="4302435" y="1965960"/>
            <a:ext cx="175564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27C2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02435" y="1965960"/>
            <a:ext cx="1755648" cy="384048"/>
          </a:xfrm>
          <a:prstGeom prst="roundRect">
            <a:avLst>
              <a:gd name="adj" fmla="val 16667"/>
            </a:avLst>
          </a:prstGeom>
          <a:solidFill>
            <a:srgbClr val="27C281"/>
          </a:solidFill>
        </p:spPr>
      </p:sp>
      <p:sp>
        <p:nvSpPr>
          <p:cNvPr id="26" name="Text 24"/>
          <p:cNvSpPr/>
          <p:nvPr/>
        </p:nvSpPr>
        <p:spPr>
          <a:xfrm>
            <a:off x="4393875" y="1965960"/>
            <a:ext cx="365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75587" y="2423160"/>
            <a:ext cx="1609344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ByteTrack Association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75587" y="2807208"/>
            <a:ext cx="160934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Assigns persistent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IDs across frames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58083" y="2592324"/>
            <a:ext cx="75529" cy="164592"/>
          </a:xfrm>
          <a:prstGeom prst="rightArrow">
            <a:avLst/>
          </a:prstGeom>
          <a:solidFill>
            <a:srgbClr val="7C8AA0"/>
          </a:solidFill>
        </p:spPr>
      </p:sp>
      <p:sp>
        <p:nvSpPr>
          <p:cNvPr id="30" name="Shape 28"/>
          <p:cNvSpPr/>
          <p:nvPr/>
        </p:nvSpPr>
        <p:spPr>
          <a:xfrm>
            <a:off x="6133612" y="1965960"/>
            <a:ext cx="175564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27C2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33612" y="1965960"/>
            <a:ext cx="1755648" cy="384048"/>
          </a:xfrm>
          <a:prstGeom prst="roundRect">
            <a:avLst>
              <a:gd name="adj" fmla="val 16667"/>
            </a:avLst>
          </a:prstGeom>
          <a:solidFill>
            <a:srgbClr val="27C281"/>
          </a:solidFill>
        </p:spPr>
      </p:sp>
      <p:sp>
        <p:nvSpPr>
          <p:cNvPr id="32" name="Text 30"/>
          <p:cNvSpPr/>
          <p:nvPr/>
        </p:nvSpPr>
        <p:spPr>
          <a:xfrm>
            <a:off x="6225052" y="1965960"/>
            <a:ext cx="365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06764" y="2423160"/>
            <a:ext cx="1609344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Selection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06764" y="2807208"/>
            <a:ext cx="160934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+ area +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alignment scoring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889260" y="2592324"/>
            <a:ext cx="75529" cy="164592"/>
          </a:xfrm>
          <a:prstGeom prst="rightArrow">
            <a:avLst/>
          </a:prstGeom>
          <a:solidFill>
            <a:srgbClr val="7C8AA0"/>
          </a:solidFill>
        </p:spPr>
      </p:sp>
      <p:sp>
        <p:nvSpPr>
          <p:cNvPr id="36" name="Shape 34"/>
          <p:cNvSpPr/>
          <p:nvPr/>
        </p:nvSpPr>
        <p:spPr>
          <a:xfrm>
            <a:off x="7964790" y="1965960"/>
            <a:ext cx="175564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64790" y="1965960"/>
            <a:ext cx="1755648" cy="384048"/>
          </a:xfrm>
          <a:prstGeom prst="roundRect">
            <a:avLst>
              <a:gd name="adj" fmla="val 16667"/>
            </a:avLst>
          </a:prstGeom>
          <a:solidFill>
            <a:srgbClr val="0B1F3A"/>
          </a:solidFill>
        </p:spPr>
      </p:sp>
      <p:sp>
        <p:nvSpPr>
          <p:cNvPr id="38" name="Text 36"/>
          <p:cNvSpPr/>
          <p:nvPr/>
        </p:nvSpPr>
        <p:spPr>
          <a:xfrm>
            <a:off x="8056230" y="1965960"/>
            <a:ext cx="365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37942" y="2423160"/>
            <a:ext cx="1609344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Navigation &amp; Collection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37942" y="2807208"/>
            <a:ext cx="160934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Motor + conveyor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actions via GPIO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720438" y="2592324"/>
            <a:ext cx="75529" cy="164592"/>
          </a:xfrm>
          <a:prstGeom prst="rightArrow">
            <a:avLst/>
          </a:prstGeom>
          <a:solidFill>
            <a:srgbClr val="7C8AA0"/>
          </a:solidFill>
        </p:spPr>
      </p:sp>
      <p:sp>
        <p:nvSpPr>
          <p:cNvPr id="42" name="Shape 40"/>
          <p:cNvSpPr/>
          <p:nvPr/>
        </p:nvSpPr>
        <p:spPr>
          <a:xfrm>
            <a:off x="9795967" y="1965960"/>
            <a:ext cx="175564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6A4FB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95967" y="1965960"/>
            <a:ext cx="1755648" cy="384048"/>
          </a:xfrm>
          <a:prstGeom prst="roundRect">
            <a:avLst>
              <a:gd name="adj" fmla="val 16667"/>
            </a:avLst>
          </a:prstGeom>
          <a:solidFill>
            <a:srgbClr val="6A4FB3"/>
          </a:solidFill>
        </p:spPr>
      </p:sp>
      <p:sp>
        <p:nvSpPr>
          <p:cNvPr id="44" name="Text 42"/>
          <p:cNvSpPr/>
          <p:nvPr/>
        </p:nvSpPr>
        <p:spPr>
          <a:xfrm>
            <a:off x="9887407" y="1965960"/>
            <a:ext cx="365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869119" y="2423160"/>
            <a:ext cx="1609344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Dashboard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869119" y="2807208"/>
            <a:ext cx="160934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MQTT telemetry to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Node-RED + CSV log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" y="3749040"/>
            <a:ext cx="10911535" cy="2331720"/>
          </a:xfrm>
          <a:prstGeom prst="roundRect">
            <a:avLst>
              <a:gd name="adj" fmla="val 3137"/>
            </a:avLst>
          </a:prstGeom>
          <a:solidFill>
            <a:srgbClr val="F3F7FA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3950208"/>
            <a:ext cx="5486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 DEPLOYMENT DETAILS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14400" y="4389120"/>
            <a:ext cx="100584" cy="100584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0" name="Text 48"/>
          <p:cNvSpPr/>
          <p:nvPr/>
        </p:nvSpPr>
        <p:spPr>
          <a:xfrm>
            <a:off x="1143000" y="4233672"/>
            <a:ext cx="4998568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entirely onboard a Raspberry Pi 4 — YOLO26n exported to NCNN format for efficient edge inference.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33008" y="4389120"/>
            <a:ext cx="100584" cy="100584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2" name="Text 50"/>
          <p:cNvSpPr/>
          <p:nvPr/>
        </p:nvSpPr>
        <p:spPr>
          <a:xfrm>
            <a:off x="6461608" y="4233672"/>
            <a:ext cx="4998568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Frames captured at 640×480 and processed at 416×416 inference resolution for real-time speed.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14400" y="5166360"/>
            <a:ext cx="100584" cy="100584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4" name="Text 52"/>
          <p:cNvSpPr/>
          <p:nvPr/>
        </p:nvSpPr>
        <p:spPr>
          <a:xfrm>
            <a:off x="1143000" y="5010912"/>
            <a:ext cx="4998568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control converts target position and box area into SEARCH / TURN / MOVE / STOP / COLLECT actions.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33008" y="5166360"/>
            <a:ext cx="100584" cy="100584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6" name="Text 54"/>
          <p:cNvSpPr/>
          <p:nvPr/>
        </p:nvSpPr>
        <p:spPr>
          <a:xfrm>
            <a:off x="6461608" y="5010912"/>
            <a:ext cx="4998568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L298N motor driver handles drive motors; a GPIO relay activates the conveyor belt on a confirmed collection event.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· SYSTEM 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HARDWARE STACK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85216" y="1408176"/>
            <a:ext cx="573328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5742432"/>
            <a:ext cx="5623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A: Onboard electronics bay of the PLADICS prototype — Raspberry Pi 4, driver board, battery pack, conveyor motor, and camera boom.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1463040"/>
            <a:ext cx="496793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0" y="1463040"/>
            <a:ext cx="64008" cy="603504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7" name="Text 14"/>
          <p:cNvSpPr/>
          <p:nvPr/>
        </p:nvSpPr>
        <p:spPr>
          <a:xfrm>
            <a:off x="6784848" y="1517904"/>
            <a:ext cx="460217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Raspberry Pi 4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784848" y="1773936"/>
            <a:ext cx="460217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 compute — runs YOLO26n (NCNN) detection, tracking, and control logic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583680" y="2157984"/>
            <a:ext cx="496793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0" y="2157984"/>
            <a:ext cx="64008" cy="603504"/>
          </a:xfrm>
          <a:prstGeom prst="rect">
            <a:avLst/>
          </a:prstGeom>
          <a:solidFill>
            <a:srgbClr val="27C281"/>
          </a:solidFill>
        </p:spPr>
      </p:sp>
      <p:sp>
        <p:nvSpPr>
          <p:cNvPr id="21" name="Text 18"/>
          <p:cNvSpPr/>
          <p:nvPr/>
        </p:nvSpPr>
        <p:spPr>
          <a:xfrm>
            <a:off x="6784848" y="2212848"/>
            <a:ext cx="460217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 Camera Module V2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784848" y="2468880"/>
            <a:ext cx="460217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 640×480 live video of the river / test surface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583680" y="2852928"/>
            <a:ext cx="496793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0" y="2852928"/>
            <a:ext cx="64008" cy="603504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25" name="Text 22"/>
          <p:cNvSpPr/>
          <p:nvPr/>
        </p:nvSpPr>
        <p:spPr>
          <a:xfrm>
            <a:off x="6784848" y="2907792"/>
            <a:ext cx="460217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L298N Dual Motor Driver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784848" y="3163824"/>
            <a:ext cx="460217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Drives the left/right DC motors for rover navigation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583680" y="3547872"/>
            <a:ext cx="496793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0" y="3547872"/>
            <a:ext cx="64008" cy="603504"/>
          </a:xfrm>
          <a:prstGeom prst="rect">
            <a:avLst/>
          </a:prstGeom>
          <a:solidFill>
            <a:srgbClr val="6A4FB3"/>
          </a:solidFill>
        </p:spPr>
      </p:sp>
      <p:sp>
        <p:nvSpPr>
          <p:cNvPr id="29" name="Text 26"/>
          <p:cNvSpPr/>
          <p:nvPr/>
        </p:nvSpPr>
        <p:spPr>
          <a:xfrm>
            <a:off x="6784848" y="3602736"/>
            <a:ext cx="460217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Conveyor Belt + Relay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784848" y="3858768"/>
            <a:ext cx="460217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GPIO-triggered conveyor lifts detected plastic on board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583680" y="4242816"/>
            <a:ext cx="496793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0" y="4242816"/>
            <a:ext cx="64008" cy="603504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3" name="Text 30"/>
          <p:cNvSpPr/>
          <p:nvPr/>
        </p:nvSpPr>
        <p:spPr>
          <a:xfrm>
            <a:off x="6784848" y="4297680"/>
            <a:ext cx="460217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Li-ion Battery Pack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784848" y="4553712"/>
            <a:ext cx="460217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Powers compute, motors, and conveyor mechanism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583680" y="4937760"/>
            <a:ext cx="496793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583680" y="4937760"/>
            <a:ext cx="64008" cy="603504"/>
          </a:xfrm>
          <a:prstGeom prst="rect">
            <a:avLst/>
          </a:prstGeom>
          <a:solidFill>
            <a:srgbClr val="27C281"/>
          </a:solidFill>
        </p:spPr>
      </p:sp>
      <p:sp>
        <p:nvSpPr>
          <p:cNvPr id="37" name="Text 34"/>
          <p:cNvSpPr/>
          <p:nvPr/>
        </p:nvSpPr>
        <p:spPr>
          <a:xfrm>
            <a:off x="6784848" y="4992624"/>
            <a:ext cx="460217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Foam &amp; PVC Chassis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784848" y="5248656"/>
            <a:ext cx="460217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buoyant frame housing all subsystems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Stack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1463040"/>
            <a:ext cx="5170170" cy="41954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· DETECTION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PREPARATION &amp; MODEL COMPARISON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1508760"/>
            <a:ext cx="2788920" cy="1051560"/>
          </a:xfrm>
          <a:prstGeom prst="roundRect">
            <a:avLst>
              <a:gd name="adj" fmla="val 6087"/>
            </a:avLst>
          </a:prstGeom>
          <a:solidFill>
            <a:srgbClr val="0B1F3A"/>
          </a:solidFill>
        </p:spPr>
      </p:sp>
      <p:sp>
        <p:nvSpPr>
          <p:cNvPr id="13" name="Text 11"/>
          <p:cNvSpPr/>
          <p:nvPr/>
        </p:nvSpPr>
        <p:spPr>
          <a:xfrm>
            <a:off x="822960" y="160020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7,264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" y="2130552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refined images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(from 7,759 raw)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743200"/>
            <a:ext cx="2788920" cy="1051560"/>
          </a:xfrm>
          <a:prstGeom prst="roundRect">
            <a:avLst>
              <a:gd name="adj" fmla="val 6087"/>
            </a:avLst>
          </a:prstGeom>
          <a:solidFill>
            <a:srgbClr val="0B1F3A"/>
          </a:solidFill>
        </p:spPr>
      </p:sp>
      <p:sp>
        <p:nvSpPr>
          <p:cNvPr id="16" name="Text 14"/>
          <p:cNvSpPr/>
          <p:nvPr/>
        </p:nvSpPr>
        <p:spPr>
          <a:xfrm>
            <a:off x="822960" y="283464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175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364992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invalid boxes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2788920" cy="1051560"/>
          </a:xfrm>
          <a:prstGeom prst="roundRect">
            <a:avLst>
              <a:gd name="adj" fmla="val 6087"/>
            </a:avLst>
          </a:prstGeom>
          <a:solidFill>
            <a:srgbClr val="0B1F3A"/>
          </a:solidFill>
        </p:spPr>
      </p:sp>
      <p:sp>
        <p:nvSpPr>
          <p:cNvPr id="19" name="Text 17"/>
          <p:cNvSpPr/>
          <p:nvPr/>
        </p:nvSpPr>
        <p:spPr>
          <a:xfrm>
            <a:off x="822960" y="406908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" y="4599432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detectors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27889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Datasets: RiSID (7,356 imgs, 7 rivers) + Riverine Plastic Litter Dataset, merged and cleaned into a single-class “plastic” dataset (70:20:10 split).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48456" y="1408176"/>
            <a:ext cx="7958023" cy="4133088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pic>
        <p:nvPicPr>
          <p:cNvPr id="23" name="Image 0" descr="/home/claude/assets/fig6_yolo_compar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3048" y="1572768"/>
            <a:ext cx="7628839" cy="380390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703320" y="5559552"/>
            <a:ext cx="784829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1: Detection accuracy of lightweight YOLO models on the cleaned single-class dataset (50-epoch benchmark).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Model &amp; Results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· DETECTION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SELECTED MODEL: YOLO26N — FINAL PERFORMANCE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640080" y="141732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</p:spPr>
      </p:sp>
      <p:sp>
        <p:nvSpPr>
          <p:cNvPr id="13" name="Text 11"/>
          <p:cNvSpPr/>
          <p:nvPr/>
        </p:nvSpPr>
        <p:spPr>
          <a:xfrm>
            <a:off x="640080" y="1508760"/>
            <a:ext cx="1600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0.919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" y="2075688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04872" y="141732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</p:spPr>
      </p:sp>
      <p:sp>
        <p:nvSpPr>
          <p:cNvPr id="16" name="Text 14"/>
          <p:cNvSpPr/>
          <p:nvPr/>
        </p:nvSpPr>
        <p:spPr>
          <a:xfrm>
            <a:off x="2404872" y="1508760"/>
            <a:ext cx="1600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0.844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04872" y="2075688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69664" y="141732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</p:spPr>
      </p:sp>
      <p:sp>
        <p:nvSpPr>
          <p:cNvPr id="19" name="Text 17"/>
          <p:cNvSpPr/>
          <p:nvPr/>
        </p:nvSpPr>
        <p:spPr>
          <a:xfrm>
            <a:off x="4169664" y="1508760"/>
            <a:ext cx="1600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0.915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169664" y="2075688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mAP@0.5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34456" y="141732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</p:spPr>
      </p:sp>
      <p:sp>
        <p:nvSpPr>
          <p:cNvPr id="22" name="Text 20"/>
          <p:cNvSpPr/>
          <p:nvPr/>
        </p:nvSpPr>
        <p:spPr>
          <a:xfrm>
            <a:off x="5934456" y="1508760"/>
            <a:ext cx="1600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0.608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934456" y="2075688"/>
            <a:ext cx="1600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mAP@0.5:0.95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44968" y="1417320"/>
            <a:ext cx="3806647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2128" y="1417320"/>
            <a:ext cx="3532327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2.38M params · 5.2 GFLOPs · 5.13 MB · 7.96 FPS (CPU)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5216" y="2688336"/>
            <a:ext cx="4041648" cy="3081528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pic>
        <p:nvPicPr>
          <p:cNvPr id="27" name="Image 0" descr="/home/claude/assets/fig11_confusio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77240" y="2880360"/>
            <a:ext cx="3657600" cy="26974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0080" y="5788152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2: Confusion matrix of the 100-epoch YOLO26n model on the held-out test set.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937760" y="2743200"/>
            <a:ext cx="6613855" cy="2971800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57216" y="2926080"/>
            <a:ext cx="6174943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157216" y="3392424"/>
            <a:ext cx="91440" cy="91440"/>
          </a:xfrm>
          <a:prstGeom prst="rect">
            <a:avLst/>
          </a:prstGeom>
          <a:solidFill>
            <a:srgbClr val="27C281"/>
          </a:solidFill>
        </p:spPr>
      </p:sp>
      <p:sp>
        <p:nvSpPr>
          <p:cNvPr id="32" name="Text 29"/>
          <p:cNvSpPr/>
          <p:nvPr/>
        </p:nvSpPr>
        <p:spPr>
          <a:xfrm>
            <a:off x="5358384" y="3246120"/>
            <a:ext cx="597377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727 of 812 true plastic instances were correctly detected on the held-out test set.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5157216" y="3995928"/>
            <a:ext cx="91440" cy="91440"/>
          </a:xfrm>
          <a:prstGeom prst="rect">
            <a:avLst/>
          </a:prstGeom>
          <a:solidFill>
            <a:srgbClr val="27C281"/>
          </a:solidFill>
        </p:spPr>
      </p:sp>
      <p:sp>
        <p:nvSpPr>
          <p:cNvPr id="34" name="Text 31"/>
          <p:cNvSpPr/>
          <p:nvPr/>
        </p:nvSpPr>
        <p:spPr>
          <a:xfrm>
            <a:off x="5358384" y="3849624"/>
            <a:ext cx="597377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Extending training from 50 → 100 epochs raised mAP@0.5 from 0.866 to 0.915.</a:t>
            </a:r>
            <a:endParaRPr lang="en-US" sz="1080" dirty="0"/>
          </a:p>
        </p:txBody>
      </p:sp>
      <p:sp>
        <p:nvSpPr>
          <p:cNvPr id="35" name="Shape 32"/>
          <p:cNvSpPr/>
          <p:nvPr/>
        </p:nvSpPr>
        <p:spPr>
          <a:xfrm>
            <a:off x="5157216" y="4599432"/>
            <a:ext cx="91440" cy="91440"/>
          </a:xfrm>
          <a:prstGeom prst="rect">
            <a:avLst/>
          </a:prstGeom>
          <a:solidFill>
            <a:srgbClr val="27C281"/>
          </a:solidFill>
        </p:spPr>
      </p:sp>
      <p:sp>
        <p:nvSpPr>
          <p:cNvPr id="36" name="Text 33"/>
          <p:cNvSpPr/>
          <p:nvPr/>
        </p:nvSpPr>
        <p:spPr>
          <a:xfrm>
            <a:off x="5358384" y="4453128"/>
            <a:ext cx="597377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Remaining errors are mostly missed detections in reflective or cluttered scenes.</a:t>
            </a:r>
            <a:endParaRPr lang="en-US" sz="1080" dirty="0"/>
          </a:p>
        </p:txBody>
      </p:sp>
      <p:sp>
        <p:nvSpPr>
          <p:cNvPr id="37" name="Shape 34"/>
          <p:cNvSpPr/>
          <p:nvPr/>
        </p:nvSpPr>
        <p:spPr>
          <a:xfrm>
            <a:off x="5157216" y="5202936"/>
            <a:ext cx="91440" cy="91440"/>
          </a:xfrm>
          <a:prstGeom prst="rect">
            <a:avLst/>
          </a:prstGeom>
          <a:solidFill>
            <a:srgbClr val="27C281"/>
          </a:solidFill>
        </p:spPr>
      </p:sp>
      <p:sp>
        <p:nvSpPr>
          <p:cNvPr id="38" name="Text 35"/>
          <p:cNvSpPr/>
          <p:nvPr/>
        </p:nvSpPr>
        <p:spPr>
          <a:xfrm>
            <a:off x="5358384" y="5056632"/>
            <a:ext cx="597377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5.13 MB checkpoint is small enough to run comfortably on a Raspberry Pi 4.</a:t>
            </a:r>
            <a:endParaRPr lang="en-US" sz="1080" dirty="0"/>
          </a:p>
        </p:txBody>
      </p:sp>
      <p:sp>
        <p:nvSpPr>
          <p:cNvPr id="39" name="Text 36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Model &amp; Results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· NAVIGATION, COLLECTION &amp; IOT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RULE-BASED NAVIGATION &amp; COLLECTION CONTROL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640080" y="1508760"/>
            <a:ext cx="2072579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7C8A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508760"/>
            <a:ext cx="2072579" cy="457200"/>
          </a:xfrm>
          <a:prstGeom prst="roundRect">
            <a:avLst>
              <a:gd name="adj" fmla="val 14000"/>
            </a:avLst>
          </a:prstGeom>
          <a:solidFill>
            <a:srgbClr val="7C8AA0"/>
          </a:solidFill>
        </p:spPr>
      </p:sp>
      <p:sp>
        <p:nvSpPr>
          <p:cNvPr id="14" name="Text 12"/>
          <p:cNvSpPr/>
          <p:nvPr/>
        </p:nvSpPr>
        <p:spPr>
          <a:xfrm>
            <a:off x="713232" y="1508760"/>
            <a:ext cx="192627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075688"/>
            <a:ext cx="1853123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confirmed target — rover holds position and keeps scanning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2712659" y="2304288"/>
            <a:ext cx="137160" cy="146304"/>
          </a:xfrm>
          <a:prstGeom prst="rightArrow">
            <a:avLst/>
          </a:prstGeom>
          <a:solidFill>
            <a:srgbClr val="7C8AA0"/>
          </a:solidFill>
        </p:spPr>
      </p:sp>
      <p:sp>
        <p:nvSpPr>
          <p:cNvPr id="17" name="Shape 15"/>
          <p:cNvSpPr/>
          <p:nvPr/>
        </p:nvSpPr>
        <p:spPr>
          <a:xfrm>
            <a:off x="2849819" y="1508760"/>
            <a:ext cx="2072579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49819" y="1508760"/>
            <a:ext cx="2072579" cy="457200"/>
          </a:xfrm>
          <a:prstGeom prst="roundRect">
            <a:avLst>
              <a:gd name="adj" fmla="val 14000"/>
            </a:avLst>
          </a:prstGeom>
          <a:solidFill>
            <a:srgbClr val="0B7285"/>
          </a:solidFill>
        </p:spPr>
      </p:sp>
      <p:sp>
        <p:nvSpPr>
          <p:cNvPr id="19" name="Text 17"/>
          <p:cNvSpPr/>
          <p:nvPr/>
        </p:nvSpPr>
        <p:spPr>
          <a:xfrm>
            <a:off x="2922971" y="1508760"/>
            <a:ext cx="192627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LEFT / RIGHT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59547" y="2075688"/>
            <a:ext cx="1853123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off-center — steer toward the plastic's horizontal position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4922398" y="2304288"/>
            <a:ext cx="137160" cy="146304"/>
          </a:xfrm>
          <a:prstGeom prst="rightArrow">
            <a:avLst/>
          </a:prstGeom>
          <a:solidFill>
            <a:srgbClr val="7C8AA0"/>
          </a:solidFill>
        </p:spPr>
      </p:sp>
      <p:sp>
        <p:nvSpPr>
          <p:cNvPr id="22" name="Shape 20"/>
          <p:cNvSpPr/>
          <p:nvPr/>
        </p:nvSpPr>
        <p:spPr>
          <a:xfrm>
            <a:off x="5059558" y="1508760"/>
            <a:ext cx="2072579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59558" y="1508760"/>
            <a:ext cx="2072579" cy="457200"/>
          </a:xfrm>
          <a:prstGeom prst="roundRect">
            <a:avLst>
              <a:gd name="adj" fmla="val 14000"/>
            </a:avLst>
          </a:prstGeom>
          <a:solidFill>
            <a:srgbClr val="0B7285"/>
          </a:solidFill>
        </p:spPr>
      </p:sp>
      <p:sp>
        <p:nvSpPr>
          <p:cNvPr id="24" name="Text 22"/>
          <p:cNvSpPr/>
          <p:nvPr/>
        </p:nvSpPr>
        <p:spPr>
          <a:xfrm>
            <a:off x="5132710" y="1508760"/>
            <a:ext cx="192627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FORWARD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69286" y="2075688"/>
            <a:ext cx="1853123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centered but still small — approach the target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7132137" y="2304288"/>
            <a:ext cx="137160" cy="146304"/>
          </a:xfrm>
          <a:prstGeom prst="rightArrow">
            <a:avLst/>
          </a:prstGeom>
          <a:solidFill>
            <a:srgbClr val="7C8AA0"/>
          </a:solidFill>
        </p:spPr>
      </p:sp>
      <p:sp>
        <p:nvSpPr>
          <p:cNvPr id="27" name="Shape 25"/>
          <p:cNvSpPr/>
          <p:nvPr/>
        </p:nvSpPr>
        <p:spPr>
          <a:xfrm>
            <a:off x="7269297" y="1508760"/>
            <a:ext cx="2072579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C97A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297" y="1508760"/>
            <a:ext cx="2072579" cy="457200"/>
          </a:xfrm>
          <a:prstGeom prst="roundRect">
            <a:avLst>
              <a:gd name="adj" fmla="val 14000"/>
            </a:avLst>
          </a:prstGeom>
          <a:solidFill>
            <a:srgbClr val="C97A1B"/>
          </a:solidFill>
        </p:spPr>
      </p:sp>
      <p:sp>
        <p:nvSpPr>
          <p:cNvPr id="29" name="Text 27"/>
          <p:cNvSpPr/>
          <p:nvPr/>
        </p:nvSpPr>
        <p:spPr>
          <a:xfrm>
            <a:off x="7342449" y="1508760"/>
            <a:ext cx="192627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79025" y="2075688"/>
            <a:ext cx="1853123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Target's bounding-box area exceeds the stop threshold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9341876" y="2304288"/>
            <a:ext cx="137160" cy="146304"/>
          </a:xfrm>
          <a:prstGeom prst="rightArrow">
            <a:avLst/>
          </a:prstGeom>
          <a:solidFill>
            <a:srgbClr val="7C8AA0"/>
          </a:solidFill>
        </p:spPr>
      </p:sp>
      <p:sp>
        <p:nvSpPr>
          <p:cNvPr id="32" name="Shape 30"/>
          <p:cNvSpPr/>
          <p:nvPr/>
        </p:nvSpPr>
        <p:spPr>
          <a:xfrm>
            <a:off x="9479036" y="1508760"/>
            <a:ext cx="2072579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27C2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79036" y="1508760"/>
            <a:ext cx="2072579" cy="457200"/>
          </a:xfrm>
          <a:prstGeom prst="roundRect">
            <a:avLst>
              <a:gd name="adj" fmla="val 14000"/>
            </a:avLst>
          </a:prstGeom>
          <a:solidFill>
            <a:srgbClr val="27C281"/>
          </a:solidFill>
        </p:spPr>
      </p:sp>
      <p:sp>
        <p:nvSpPr>
          <p:cNvPr id="34" name="Text 32"/>
          <p:cNvSpPr/>
          <p:nvPr/>
        </p:nvSpPr>
        <p:spPr>
          <a:xfrm>
            <a:off x="9552188" y="1508760"/>
            <a:ext cx="192627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588764" y="2075688"/>
            <a:ext cx="1853123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target held stable for 4+ frames — conveyor runs for 5 s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640080" y="3611880"/>
            <a:ext cx="10911535" cy="384048"/>
          </a:xfrm>
          <a:prstGeom prst="rect">
            <a:avLst/>
          </a:prstGeom>
          <a:solidFill>
            <a:srgbClr val="0B1F3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3611880"/>
            <a:ext cx="147152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550518" y="3611880"/>
            <a:ext cx="5617909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442747" y="3611880"/>
            <a:ext cx="2999141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3995928"/>
            <a:ext cx="10911535" cy="384048"/>
          </a:xfrm>
          <a:prstGeom prst="rect">
            <a:avLst/>
          </a:prstGeom>
          <a:solidFill>
            <a:srgbClr val="EAF1F7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3995928"/>
            <a:ext cx="147152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τacc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550518" y="3995928"/>
            <a:ext cx="5617909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confidence to accept a candidate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442747" y="3995928"/>
            <a:ext cx="2999141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4379976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" y="4379976"/>
            <a:ext cx="147152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Astop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550518" y="4379976"/>
            <a:ext cx="5617909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Bounding-box area that triggers STOP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442747" y="4379976"/>
            <a:ext cx="2999141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45,000 px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0080" y="4764024"/>
            <a:ext cx="10911535" cy="384048"/>
          </a:xfrm>
          <a:prstGeom prst="rect">
            <a:avLst/>
          </a:prstGeom>
          <a:solidFill>
            <a:srgbClr val="EAF1F7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" y="4764024"/>
            <a:ext cx="147152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λL / λR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550518" y="4764024"/>
            <a:ext cx="5617909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Left / right navigation-zone boundaries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442747" y="4764024"/>
            <a:ext cx="2999141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0.33 / 0.66 × width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" y="5148072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" y="5148072"/>
            <a:ext cx="147152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Ncol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550518" y="5148072"/>
            <a:ext cx="5617909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Stable frames required before collection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442747" y="5148072"/>
            <a:ext cx="2999141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frames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40080" y="5532120"/>
            <a:ext cx="10911535" cy="384048"/>
          </a:xfrm>
          <a:prstGeom prst="rect">
            <a:avLst/>
          </a:prstGeom>
          <a:solidFill>
            <a:srgbClr val="EAF1F7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" y="5532120"/>
            <a:ext cx="147152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Tcool / Tconv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2550518" y="5532120"/>
            <a:ext cx="5617909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Collection cooldown / conveyor run time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442747" y="5532120"/>
            <a:ext cx="2999141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s / 5 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Navigation, Collection &amp; IoT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· NAVIGATION, COLLECTION &amp; IOT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IOT MONITORING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85216" y="1408176"/>
            <a:ext cx="7150608" cy="4361688"/>
          </a:xfrm>
          <a:prstGeom prst="roundRect">
            <a:avLst>
              <a:gd name="adj" fmla="val 1468"/>
            </a:avLst>
          </a:prstGeom>
          <a:solidFill>
            <a:srgbClr val="0B1F3A"/>
          </a:solidFill>
        </p:spPr>
      </p:sp>
      <p:pic>
        <p:nvPicPr>
          <p:cNvPr id="13" name="Image 0" descr="/home/claude/assets/fig5_dashboar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1554480"/>
            <a:ext cx="6858000" cy="40690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5788152"/>
            <a:ext cx="704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3: Live PLADICS IoT dashboard — plastic detected, tracked, and collection actively in progress.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01000" y="1463040"/>
            <a:ext cx="355061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MONITORED PARAMETERS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1975104"/>
            <a:ext cx="82296" cy="822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7" name="Text 14"/>
          <p:cNvSpPr/>
          <p:nvPr/>
        </p:nvSpPr>
        <p:spPr>
          <a:xfrm>
            <a:off x="8183880" y="1847088"/>
            <a:ext cx="336773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count &amp; confidence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01000" y="2377440"/>
            <a:ext cx="82296" cy="822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9" name="Text 16"/>
          <p:cNvSpPr/>
          <p:nvPr/>
        </p:nvSpPr>
        <p:spPr>
          <a:xfrm>
            <a:off x="8183880" y="2249424"/>
            <a:ext cx="336773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ByteTrack ID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01000" y="2779776"/>
            <a:ext cx="82296" cy="822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21" name="Text 18"/>
          <p:cNvSpPr/>
          <p:nvPr/>
        </p:nvSpPr>
        <p:spPr>
          <a:xfrm>
            <a:off x="8183880" y="2651760"/>
            <a:ext cx="336773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Navigation action &amp; mission state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01000" y="3182112"/>
            <a:ext cx="82296" cy="822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23" name="Text 20"/>
          <p:cNvSpPr/>
          <p:nvPr/>
        </p:nvSpPr>
        <p:spPr>
          <a:xfrm>
            <a:off x="8183880" y="3054096"/>
            <a:ext cx="336773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Conveyor ON/OFF status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01000" y="3584448"/>
            <a:ext cx="82296" cy="822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25" name="Text 22"/>
          <p:cNvSpPr/>
          <p:nvPr/>
        </p:nvSpPr>
        <p:spPr>
          <a:xfrm>
            <a:off x="8183880" y="3456432"/>
            <a:ext cx="336773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Inference time &amp; frame rate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001000" y="3986784"/>
            <a:ext cx="82296" cy="822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27" name="Text 24"/>
          <p:cNvSpPr/>
          <p:nvPr/>
        </p:nvSpPr>
        <p:spPr>
          <a:xfrm>
            <a:off x="8183880" y="3858768"/>
            <a:ext cx="336773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/ RAM / temperature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001000" y="4471416"/>
            <a:ext cx="3550615" cy="1417320"/>
          </a:xfrm>
          <a:prstGeom prst="roundRect">
            <a:avLst>
              <a:gd name="adj" fmla="val 3871"/>
            </a:avLst>
          </a:prstGeom>
          <a:solidFill>
            <a:srgbClr val="F3F7FA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65592" y="4590288"/>
            <a:ext cx="3221431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i="1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Broker: local Mosquitto (MQTT) → Node-RED dashboard. Every mission also writes a timestamped CSV log, and the annotated video stream is served live over Flask MJPEG.</a:t>
            </a:r>
            <a:endParaRPr lang="en-US" sz="1030" dirty="0"/>
          </a:p>
        </p:txBody>
      </p:sp>
      <p:sp>
        <p:nvSpPr>
          <p:cNvPr id="30" name="Text 27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Navigation, Collection &amp; IoT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· DEMONSTRATION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DEMONSTRATION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13436" y="1417320"/>
            <a:ext cx="3611880" cy="388620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pic>
        <p:nvPicPr>
          <p:cNvPr id="13" name="Image 0" descr="/home/claude/assets/fig15_prototyp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59156" y="1463040"/>
            <a:ext cx="3520440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9156" y="4800600"/>
            <a:ext cx="35204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4: Assembled PLADICS rover — conveyor ramp, chassis, and onboard electronics bay.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4289908" y="1417320"/>
            <a:ext cx="3611880" cy="388620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pic>
        <p:nvPicPr>
          <p:cNvPr id="16" name="Image 1" descr="/home/claude/assets/field_test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35628" y="1463040"/>
            <a:ext cx="3520440" cy="32918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35628" y="4800600"/>
            <a:ext cx="35204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5: Live field trial — rover positioned in front of target plastic bottles during a test run.</a:t>
            </a:r>
            <a:endParaRPr lang="en-US" sz="930" dirty="0"/>
          </a:p>
        </p:txBody>
      </p:sp>
      <p:sp>
        <p:nvSpPr>
          <p:cNvPr id="18" name="Shape 14"/>
          <p:cNvSpPr/>
          <p:nvPr/>
        </p:nvSpPr>
        <p:spPr>
          <a:xfrm>
            <a:off x="8066380" y="1417320"/>
            <a:ext cx="3611880" cy="388620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pic>
        <p:nvPicPr>
          <p:cNvPr id="19" name="Image 2" descr="/home/claude/assets/dashboard_detect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12100" y="1463040"/>
            <a:ext cx="3520440" cy="32918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12100" y="4800600"/>
            <a:ext cx="35204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6: Dashboard view during a live run — plastic detected and tracked (Track ID 183, conf. 0.61).</a:t>
            </a:r>
            <a:endParaRPr lang="en-US" sz="930" dirty="0"/>
          </a:p>
        </p:txBody>
      </p:sp>
      <p:sp>
        <p:nvSpPr>
          <p:cNvPr id="21" name="Text 16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· DEMONSTRATION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QUALITATIVE DETECTION RESULTS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682496" y="1362456"/>
            <a:ext cx="8796528" cy="4544568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pic>
        <p:nvPicPr>
          <p:cNvPr id="13" name="Image 0" descr="/home/claude/assets/fig14_qualitativ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92224" y="1472184"/>
            <a:ext cx="8577072" cy="43251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37360" y="5925312"/>
            <a:ext cx="8686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Fig. 7: YOLO26n detections on real river-surface test images — varying illumination, background, and object scale.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· DEMONSTRATION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AT A GLANCE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55168" y="192024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168" y="2240280"/>
            <a:ext cx="2514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91.5%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92328" y="3154680"/>
            <a:ext cx="2240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mAP@0.5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(final model)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44088" y="192024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4088" y="2240280"/>
            <a:ext cx="2514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5.13 MB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581248" y="3154680"/>
            <a:ext cx="2240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checkpoint size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(edge-deployable)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192024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3008" y="2240280"/>
            <a:ext cx="2514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7.96 FPS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370168" y="3154680"/>
            <a:ext cx="2240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inference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21928" y="192024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132A4C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21928" y="2240280"/>
            <a:ext cx="2514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7,264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159088" y="3154680"/>
            <a:ext cx="2240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cleaned training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4617720"/>
            <a:ext cx="926561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9BB0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lightweight checkpoint powers detection, tracking, navigation, and collection — fully on board a Raspberry Pi 4.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· DEMONSTRATION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CONTRIBUTIONS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86588" y="146304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6588" y="1463040"/>
            <a:ext cx="82296" cy="1965960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4" name="Text 12"/>
          <p:cNvSpPr/>
          <p:nvPr/>
        </p:nvSpPr>
        <p:spPr>
          <a:xfrm>
            <a:off x="897484" y="1700784"/>
            <a:ext cx="4800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7484" y="2121408"/>
            <a:ext cx="4800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Refined and merged a 7,264-image multi-source river-plastic dataset from RiSID and the Riverine Plastic Litter Dataset.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5868" y="146304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5868" y="1463040"/>
            <a:ext cx="82296" cy="1965960"/>
          </a:xfrm>
          <a:prstGeom prst="rect">
            <a:avLst/>
          </a:prstGeom>
          <a:solidFill>
            <a:srgbClr val="27C281"/>
          </a:solidFill>
        </p:spPr>
      </p:sp>
      <p:sp>
        <p:nvSpPr>
          <p:cNvPr id="18" name="Text 16"/>
          <p:cNvSpPr/>
          <p:nvPr/>
        </p:nvSpPr>
        <p:spPr>
          <a:xfrm>
            <a:off x="6566764" y="1700784"/>
            <a:ext cx="4800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66764" y="2121408"/>
            <a:ext cx="4800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Selected and tuned a lightweight YOLO26n detector achieving 0.915 mAP@0.5 at just 5.13 MB.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6588" y="3721608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6588" y="3721608"/>
            <a:ext cx="82296" cy="196596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22" name="Text 20"/>
          <p:cNvSpPr/>
          <p:nvPr/>
        </p:nvSpPr>
        <p:spPr>
          <a:xfrm>
            <a:off x="897484" y="3959352"/>
            <a:ext cx="4800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7484" y="4379976"/>
            <a:ext cx="4800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ByteTrack-based tracking with rule-based navigation and physical conveyor-belt collection.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55868" y="3721608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721608"/>
            <a:ext cx="82296" cy="1965960"/>
          </a:xfrm>
          <a:prstGeom prst="rect">
            <a:avLst/>
          </a:prstGeom>
          <a:solidFill>
            <a:srgbClr val="6A4FB3"/>
          </a:solidFill>
        </p:spPr>
      </p:sp>
      <p:sp>
        <p:nvSpPr>
          <p:cNvPr id="26" name="Text 24"/>
          <p:cNvSpPr/>
          <p:nvPr/>
        </p:nvSpPr>
        <p:spPr>
          <a:xfrm>
            <a:off x="6566764" y="3959352"/>
            <a:ext cx="4800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66764" y="4379976"/>
            <a:ext cx="4800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a live MQTT / Node-RED IoT dashboard with mission-level CSV logging and MJPEG streaming.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Contributions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" y="1463040"/>
            <a:ext cx="5212080" cy="4251960"/>
          </a:xfrm>
          <a:prstGeom prst="roundRect">
            <a:avLst>
              <a:gd name="adj" fmla="val 1505"/>
            </a:avLst>
          </a:prstGeom>
          <a:solidFill>
            <a:srgbClr val="0B1F3A"/>
          </a:solidFill>
        </p:spPr>
      </p:sp>
      <p:sp>
        <p:nvSpPr>
          <p:cNvPr id="13" name="Text 11"/>
          <p:cNvSpPr/>
          <p:nvPr/>
        </p:nvSpPr>
        <p:spPr>
          <a:xfrm>
            <a:off x="914400" y="1719072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148840"/>
            <a:ext cx="46634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demonstrates a complete, working detection-to-collection pipeline: a lightweight YOLO26n model detects river-surface plastic, ByteTrack keeps track of it, rule-based logic drives the rover and triggers the conveyor, and every mission is logged and streamed live to an IoT dashboard.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3803904"/>
            <a:ext cx="91440" cy="91440"/>
          </a:xfrm>
          <a:prstGeom prst="rect">
            <a:avLst/>
          </a:prstGeom>
          <a:solidFill>
            <a:srgbClr val="27C281"/>
          </a:solidFill>
        </p:spPr>
      </p:sp>
      <p:sp>
        <p:nvSpPr>
          <p:cNvPr id="16" name="Text 14"/>
          <p:cNvSpPr/>
          <p:nvPr/>
        </p:nvSpPr>
        <p:spPr>
          <a:xfrm>
            <a:off x="1143000" y="365760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Proof-of-concept validated on a physical rover prototype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407408"/>
            <a:ext cx="91440" cy="91440"/>
          </a:xfrm>
          <a:prstGeom prst="rect">
            <a:avLst/>
          </a:prstGeom>
          <a:solidFill>
            <a:srgbClr val="27C281"/>
          </a:solidFill>
        </p:spPr>
      </p:sp>
      <p:sp>
        <p:nvSpPr>
          <p:cNvPr id="18" name="Text 16"/>
          <p:cNvSpPr/>
          <p:nvPr/>
        </p:nvSpPr>
        <p:spPr>
          <a:xfrm>
            <a:off x="1143000" y="4261104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fully on board — no cloud dependency for inference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5010912"/>
            <a:ext cx="91440" cy="91440"/>
          </a:xfrm>
          <a:prstGeom prst="rect">
            <a:avLst/>
          </a:prstGeom>
          <a:solidFill>
            <a:srgbClr val="27C281"/>
          </a:solidFill>
        </p:spPr>
      </p:sp>
      <p:sp>
        <p:nvSpPr>
          <p:cNvPr id="20" name="Text 18"/>
          <p:cNvSpPr/>
          <p:nvPr/>
        </p:nvSpPr>
        <p:spPr>
          <a:xfrm>
            <a:off x="1143000" y="4864608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Detection, tracking, navigation &amp; collection are all integrated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26480" y="1463040"/>
            <a:ext cx="542513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920240"/>
            <a:ext cx="54251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2057400"/>
            <a:ext cx="384048" cy="384048"/>
          </a:xfrm>
          <a:prstGeom prst="rect">
            <a:avLst/>
          </a:prstGeom>
          <a:solidFill>
            <a:srgbClr val="F3F7FA"/>
          </a:solidFill>
          <a:ln w="15240">
            <a:solidFill>
              <a:srgbClr val="0B72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205740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28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2002536"/>
            <a:ext cx="460217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LARGER FIELD DATASETS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2267712"/>
            <a:ext cx="46021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river-specific data across seasons, cameras, and lighting.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6126480" y="2816352"/>
            <a:ext cx="54251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2784" y="2953512"/>
            <a:ext cx="384048" cy="384048"/>
          </a:xfrm>
          <a:prstGeom prst="rect">
            <a:avLst/>
          </a:prstGeom>
          <a:solidFill>
            <a:srgbClr val="F3F7FA"/>
          </a:solidFill>
          <a:ln w="15240">
            <a:solidFill>
              <a:srgbClr val="0B72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295351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28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2898648"/>
            <a:ext cx="460217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OBSTACLE-AWARE NAVIGATION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3163824"/>
            <a:ext cx="46021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sensing beyond rule-based logic for safer autonomous movement.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126480" y="3712464"/>
            <a:ext cx="54251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72784" y="3849624"/>
            <a:ext cx="384048" cy="384048"/>
          </a:xfrm>
          <a:prstGeom prst="rect">
            <a:avLst/>
          </a:prstGeom>
          <a:solidFill>
            <a:srgbClr val="F3F7FA"/>
          </a:solidFill>
          <a:ln w="15240">
            <a:solidFill>
              <a:srgbClr val="0B72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384962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28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3794760"/>
            <a:ext cx="460217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EXTENDED FIELD TRIALS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66560" y="4059936"/>
            <a:ext cx="46021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long-term autonomous operation on real rivers, not test tanks.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126480" y="4608576"/>
            <a:ext cx="54251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2784" y="4745736"/>
            <a:ext cx="384048" cy="384048"/>
          </a:xfrm>
          <a:prstGeom prst="rect">
            <a:avLst/>
          </a:prstGeom>
          <a:solidFill>
            <a:srgbClr val="F3F7FA"/>
          </a:solidFill>
          <a:ln w="15240">
            <a:solidFill>
              <a:srgbClr val="0B728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474573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28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66560" y="4690872"/>
            <a:ext cx="460217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MULTI-CLASS SORTING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66560" y="4956048"/>
            <a:ext cx="46021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 collected plastic by type using the multiclass detection models.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Work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0B7285"/>
          </a:solidFill>
        </p:spPr>
      </p:sp>
      <p:sp>
        <p:nvSpPr>
          <p:cNvPr id="10" name="Text 8"/>
          <p:cNvSpPr/>
          <p:nvPr/>
        </p:nvSpPr>
        <p:spPr>
          <a:xfrm>
            <a:off x="521208" y="219456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1417320"/>
            <a:ext cx="527288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L. Chen and J. Zhu, “Water surface garbage detection based on lightweight YOLOv5,” Scientific Reports, vol. 14, no. 6133, 2024.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40080" y="2350008"/>
            <a:ext cx="527288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[2] Z. Fan, Z. Qin, W. Liu, M. Chen, and Z. Qiu, “SS-YOLOv8: A lightweight algorithm for surface litter detection,” Applied Sciences, vol. 14, no. 9283, 2024.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640080" y="3282696"/>
            <a:ext cx="527288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[3] J. Wang and H. Zhao, “Improved YOLOv8 algorithm for water surface object detection,” Sensors, vol. 24, no. 15, p. 5059, 2024.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40080" y="4215384"/>
            <a:ext cx="527288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[4] C. Peng, B. He, W. Xi, and G. Lin, “Improved YOLOv7 algorithm for floating waste detection based on GFPN and long-range attention mechanism,” Wuhan University Journal of Natural Sciences, vol. 29, no. 4, pp. 338–348, 2024.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40080" y="5148072"/>
            <a:ext cx="527288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[5] M. Nunkhaw and H. Miyamoto, “An image analysis of river-floating waste materials by using deep learning techniques,” Water, vol. 16, no. 10, p. 1373, 2024.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278728" y="1417320"/>
            <a:ext cx="527288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[6] B. Sun, H. Tang, L. Gao, K. Bi, and J. Wen, “RTDETR-MARD: A multi-scale adaptive real-time framework for floating waste detection in aquatic environments,” Journal of Marine Science and Engineering, vol. 13, no. 5, p. 996, 2025.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278728" y="2350008"/>
            <a:ext cx="527288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[7] T. Zhou et al., “ESAK-YOLO: Multi-scale attention enhanced object detection for floating waste in complex water scenes,” Scientific Reports, 2026.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6278728" y="3282696"/>
            <a:ext cx="527288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[8] M. MacLeod, H. P. H. Arp, M. B. Tekman, and A. Jahnke, “The global threat from plastic pollution,” Science, vol. 373, no. 6550, pp. 61–65, 2021.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278728" y="4215384"/>
            <a:ext cx="527288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[9] L. J. J. Meijer, T. van Emmerik, R. van der Ent, C. Schmidt, and L. Lebreton, “More than 1000 rivers account for 80% of global riverine plastic emissions into the ocean,” Science Advances, vol. 7, no. 18, 2021.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6278728" y="5148072"/>
            <a:ext cx="527288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51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[10] G. Jocher, J. Qiu, M. Liu, S. Lyu, F. C. Akyon, and M. E. Kalfaoglu, “Ultralytics YOLO26: Unified real-time end-to-end vision models,” arXiv:2606.03748, 2026.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502920" y="643737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PLADICS  |  River-Surface Plastic Detection &amp; Collection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05295" y="643737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31575" y="6437376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310896" cy="41148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3" name="Shape 1"/>
          <p:cNvSpPr/>
          <p:nvPr/>
        </p:nvSpPr>
        <p:spPr>
          <a:xfrm>
            <a:off x="256032" y="256032"/>
            <a:ext cx="41148" cy="310896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4" name="Shape 2"/>
          <p:cNvSpPr/>
          <p:nvPr/>
        </p:nvSpPr>
        <p:spPr>
          <a:xfrm>
            <a:off x="11624767" y="256032"/>
            <a:ext cx="310896" cy="41148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5" name="Shape 3"/>
          <p:cNvSpPr/>
          <p:nvPr/>
        </p:nvSpPr>
        <p:spPr>
          <a:xfrm>
            <a:off x="11894515" y="256032"/>
            <a:ext cx="41148" cy="310896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6" name="Shape 4"/>
          <p:cNvSpPr/>
          <p:nvPr/>
        </p:nvSpPr>
        <p:spPr>
          <a:xfrm>
            <a:off x="256032" y="6560820"/>
            <a:ext cx="310896" cy="41148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7" name="Shape 5"/>
          <p:cNvSpPr/>
          <p:nvPr/>
        </p:nvSpPr>
        <p:spPr>
          <a:xfrm>
            <a:off x="256032" y="6291072"/>
            <a:ext cx="41148" cy="310896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8" name="Shape 6"/>
          <p:cNvSpPr/>
          <p:nvPr/>
        </p:nvSpPr>
        <p:spPr>
          <a:xfrm>
            <a:off x="11624767" y="6560820"/>
            <a:ext cx="310896" cy="41148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9" name="Shape 7"/>
          <p:cNvSpPr/>
          <p:nvPr/>
        </p:nvSpPr>
        <p:spPr>
          <a:xfrm>
            <a:off x="11894515" y="6291072"/>
            <a:ext cx="41148" cy="310896"/>
          </a:xfrm>
          <a:prstGeom prst="rect">
            <a:avLst/>
          </a:prstGeom>
          <a:solidFill>
            <a:srgbClr val="3BE8F0"/>
          </a:solidFill>
        </p:spPr>
      </p:sp>
      <p:sp>
        <p:nvSpPr>
          <p:cNvPr id="10" name="Shape 8"/>
          <p:cNvSpPr/>
          <p:nvPr/>
        </p:nvSpPr>
        <p:spPr>
          <a:xfrm>
            <a:off x="2986888" y="2331720"/>
            <a:ext cx="6217920" cy="2194560"/>
          </a:xfrm>
          <a:prstGeom prst="roundRect">
            <a:avLst>
              <a:gd name="adj" fmla="val 4167"/>
            </a:avLst>
          </a:prstGeom>
          <a:solidFill>
            <a:srgbClr val="132A4C"/>
          </a:solidFill>
          <a:ln w="19050">
            <a:solidFill>
              <a:srgbClr val="3B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6888" y="2651760"/>
            <a:ext cx="6217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YOU!!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986888" y="3429000"/>
            <a:ext cx="6217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86888" y="3429000"/>
            <a:ext cx="6217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85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12486</Words>
  <Application>WPS Presentation</Application>
  <PresentationFormat>On-screen Show (16:9)</PresentationFormat>
  <Paragraphs>648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Esat Jahan Akhi</cp:lastModifiedBy>
  <cp:revision>2</cp:revision>
  <dcterms:created xsi:type="dcterms:W3CDTF">2026-09-13T18:06:00Z</dcterms:created>
  <dcterms:modified xsi:type="dcterms:W3CDTF">2026-09-14T00:18:15Z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EE01F56FCCE34C32A6729F0CEE3F12C2_12</vt:lpwstr>
  </property>
</Properties>
</file>